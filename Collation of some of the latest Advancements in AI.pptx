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9EF530-8A37-4046-B327-7382CD58EF77}">
  <a:tblStyle styleId="{229EF530-8A37-4046-B327-7382CD58EF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e7c0ae8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e7c0ae8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e7c0ae8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ee7c0ae8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ee7c0ae8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ee7c0ae8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ee7c0ae8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ee7c0ae8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e7c0ae8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e7c0ae8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e7c0ae8d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e7c0ae8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e7c0ae8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e7c0ae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e7c0ae8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e7c0ae8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ee7c0ae8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ee7c0ae8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e7c0ae8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e7c0ae8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e7c0ae8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ee7c0ae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e7c0ae8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ee7c0ae8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ee7c0ae8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ee7c0ae8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e7c0ae8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ee7c0ae8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e7c0ae8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e7c0ae8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ee7c0ae8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ee7c0ae8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e7c0ae8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ee7c0ae8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e7c0ae8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e7c0ae8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e7c0ae8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e7c0ae8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e7c0ae8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e7c0ae8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e7c0ae8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e7c0ae8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ee7c0ae8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ee7c0ae8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e7c0ae8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ee7c0ae8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e7c0ae8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ee7c0ae8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e7c0ae8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ee7c0ae8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ee7c0ae8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ee7c0ae8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html/2505.01441v1?utm_source=chatgpt.com" TargetMode="External"/><Relationship Id="rId4" Type="http://schemas.openxmlformats.org/officeDocument/2006/relationships/hyperlink" Target="https://arxiv.org/abs/2510.05592?utm_source=chatgpt.com" TargetMode="External"/><Relationship Id="rId5" Type="http://schemas.openxmlformats.org/officeDocument/2006/relationships/hyperlink" Target="https://arxiv.org/abs/2511.18258?utm_source=chatgpt.com" TargetMode="External"/><Relationship Id="rId6" Type="http://schemas.openxmlformats.org/officeDocument/2006/relationships/hyperlink" Target="https://arxiv.org/abs/2511.21990?utm_source=chatgpt.com" TargetMode="External"/><Relationship Id="rId7" Type="http://schemas.openxmlformats.org/officeDocument/2006/relationships/hyperlink" Target="https://arxiv.org/abs/2512.02228?utm_source=chatgp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nalyticsindiamag.com/ai-news-updates/deepseek-releases-new-reasoning-models-to-match-gpt-5-rival-gemini-3-pro/?utm_source=chatgpt.com" TargetMode="External"/><Relationship Id="rId4" Type="http://schemas.openxmlformats.org/officeDocument/2006/relationships/hyperlink" Target="https://www.geekwire.com/2025/ai2-releases-olmo-3-open-models-rivaling-meta-deepseek-and-others-on-performance-and-efficiency/?utm_source=chatgpt.com" TargetMode="External"/><Relationship Id="rId5" Type="http://schemas.openxmlformats.org/officeDocument/2006/relationships/hyperlink" Target="https://huggingface.co/blog/daya-shankar/open-source-llms?utm_source=chatgpt.com" TargetMode="External"/><Relationship Id="rId6" Type="http://schemas.openxmlformats.org/officeDocument/2006/relationships/hyperlink" Target="https://www.mckinsey.com/capabilities/quantumblack/our-insights/seizing-the-agentic-ai-advantage?utm_source=chatgpt.com" TargetMode="External"/><Relationship Id="rId7" Type="http://schemas.openxmlformats.org/officeDocument/2006/relationships/hyperlink" Target="https://link.springer.com/article/10.1007/s10462-025-11422-4?utm_source=chatgpt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abs/2510.02325?utm_source=chatgpt.com" TargetMode="External"/><Relationship Id="rId4" Type="http://schemas.openxmlformats.org/officeDocument/2006/relationships/hyperlink" Target="https://arxiv.org/abs/2502.02249?utm_source=chatgpt.com" TargetMode="External"/><Relationship Id="rId5" Type="http://schemas.openxmlformats.org/officeDocument/2006/relationships/hyperlink" Target="https://arxiv.org/abs/2501.07468?utm_source=chatgpt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ciencedirect.com/science/article/pii/S2667102625000294?utm_source=chatgpt.com" TargetMode="External"/><Relationship Id="rId4" Type="http://schemas.openxmlformats.org/officeDocument/2006/relationships/hyperlink" Target="https://www.nature.com/articles/s44387-025-00047-1?utm_source=chatgpt.com" TargetMode="External"/><Relationship Id="rId5" Type="http://schemas.openxmlformats.org/officeDocument/2006/relationships/hyperlink" Target="https://www.mdpi.com/2079-9292/14/18/3727?utm_source=chatgpt.com" TargetMode="External"/><Relationship Id="rId6" Type="http://schemas.openxmlformats.org/officeDocument/2006/relationships/hyperlink" Target="https://jamanetwork.com/journals/jama/fullarticle/2840175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frontiersin.org/journals/artificial-intelligence/articles/10.3389/frai.2025.1568266/full?utm_source=chatgpt.com" TargetMode="External"/><Relationship Id="rId4" Type="http://schemas.openxmlformats.org/officeDocument/2006/relationships/hyperlink" Target="https://www.mckinsey.com/industries/financial-services/our-insights/the-future-of-ai-in-the-insurance-industry?utm_source=chatgpt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bcg.com/publications/2025/insurance-leads-ai-adoption-now-time-to-scale?utm_source=chatgpt.com" TargetMode="External"/><Relationship Id="rId4" Type="http://schemas.openxmlformats.org/officeDocument/2006/relationships/hyperlink" Target="https://arxiv.org/abs/2508.02283?utm_source=chatgpt.com" TargetMode="External"/><Relationship Id="rId5" Type="http://schemas.openxmlformats.org/officeDocument/2006/relationships/hyperlink" Target="https://www.explorationpub.com/Journals/edht/Article/101145?utm_source=chatgpt.com" TargetMode="External"/><Relationship Id="rId6" Type="http://schemas.openxmlformats.org/officeDocument/2006/relationships/hyperlink" Target="https://www.vonage.com/resources/articles/ai-in-insurance/?utm_source=chatgpt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lecfurrier.medium.com/the-convergence-epoch-how-november-2025-rewrote-the-rules-of-ai-infrastructure-and-reasoning-at-10f7209c855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hampaignmagazine.com/2025/11/09/ai-by-ai-weekly-top-5-november-3-9-2025/?utm_source=chatgpt.com" TargetMode="External"/><Relationship Id="rId4" Type="http://schemas.openxmlformats.org/officeDocument/2006/relationships/hyperlink" Target="https://cloud.google.com/blog/products/compute/inside-the-ironwood-tpu-codesigned-ai-stack" TargetMode="Externa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mofo.com/resources/insights/251120-new-york-and-california-enact-landmark-ai?utm_source=chatgpt.com" TargetMode="External"/><Relationship Id="rId10" Type="http://schemas.openxmlformats.org/officeDocument/2006/relationships/hyperlink" Target="https://www.mofo.com/resources/insights/251120-new-york-and-california-enact-landmark-ai?utm_source=chatgpt.com" TargetMode="External"/><Relationship Id="rId13" Type="http://schemas.openxmlformats.org/officeDocument/2006/relationships/hyperlink" Target="https://www.mofo.com/resources/insights/251120-new-york-and-california-enact-landmark-ai?utm_source=chatgpt.com" TargetMode="External"/><Relationship Id="rId12" Type="http://schemas.openxmlformats.org/officeDocument/2006/relationships/hyperlink" Target="https://www.mofo.com/resources/insights/251120-new-york-and-california-enact-landmark-ai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mofo.com/resources/insights/251120-new-york-and-california-enact-landmark-ai?utm_source=chatgpt.com" TargetMode="External"/><Relationship Id="rId4" Type="http://schemas.openxmlformats.org/officeDocument/2006/relationships/hyperlink" Target="https://www.mofo.com/resources/insights/251120-new-york-and-california-enact-landmark-ai?utm_source=chatgpt.com" TargetMode="External"/><Relationship Id="rId9" Type="http://schemas.openxmlformats.org/officeDocument/2006/relationships/hyperlink" Target="https://www.mofo.com/resources/insights/251120-new-york-and-california-enact-landmark-ai?utm_source=chatgpt.com" TargetMode="External"/><Relationship Id="rId14" Type="http://schemas.openxmlformats.org/officeDocument/2006/relationships/hyperlink" Target="https://www.mofo.com/resources/insights/251120-new-york-and-california-enact-landmark-ai?utm_source=chatgpt.com" TargetMode="External"/><Relationship Id="rId5" Type="http://schemas.openxmlformats.org/officeDocument/2006/relationships/hyperlink" Target="https://www.mofo.com/resources/insights/251120-new-york-and-california-enact-landmark-ai?utm_source=chatgpt.com" TargetMode="External"/><Relationship Id="rId6" Type="http://schemas.openxmlformats.org/officeDocument/2006/relationships/hyperlink" Target="https://www.mofo.com/resources/insights/251120-new-york-and-california-enact-landmark-ai?utm_source=chatgpt.com" TargetMode="External"/><Relationship Id="rId7" Type="http://schemas.openxmlformats.org/officeDocument/2006/relationships/hyperlink" Target="https://www.mofo.com/resources/insights/251120-new-york-and-california-enact-landmark-ai?utm_source=chatgpt.com" TargetMode="External"/><Relationship Id="rId8" Type="http://schemas.openxmlformats.org/officeDocument/2006/relationships/hyperlink" Target="https://www.mofo.com/resources/insights/251120-new-york-and-california-enact-landmark-ai?utm_source=chatgpt.com" TargetMode="Externa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tenable.com/blog/cybersecurity-snapshot-agentic-ai-security-best-practices-mitre-attack-v18-11-07-2025?utm_source=chatgpt.com" TargetMode="External"/><Relationship Id="rId10" Type="http://schemas.openxmlformats.org/officeDocument/2006/relationships/hyperlink" Target="https://www.tenable.com/blog/cybersecurity-snapshot-agentic-ai-security-best-practices-mitre-attack-v18-11-07-2025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tenable.com/blog/cybersecurity-snapshot-agentic-ai-security-best-practices-mitre-attack-v18-11-07-2025?utm_source=chatgpt.com" TargetMode="External"/><Relationship Id="rId4" Type="http://schemas.openxmlformats.org/officeDocument/2006/relationships/hyperlink" Target="https://www.tenable.com/blog/cybersecurity-snapshot-agentic-ai-security-best-practices-mitre-attack-v18-11-07-2025?utm_source=chatgpt.com" TargetMode="External"/><Relationship Id="rId9" Type="http://schemas.openxmlformats.org/officeDocument/2006/relationships/hyperlink" Target="https://www.tenable.com/blog/cybersecurity-snapshot-agentic-ai-security-best-practices-mitre-attack-v18-11-07-2025?utm_source=chatgpt.com" TargetMode="External"/><Relationship Id="rId5" Type="http://schemas.openxmlformats.org/officeDocument/2006/relationships/hyperlink" Target="https://www.tenable.com/blog/cybersecurity-snapshot-agentic-ai-security-best-practices-mitre-attack-v18-11-07-2025?utm_source=chatgpt.com" TargetMode="External"/><Relationship Id="rId6" Type="http://schemas.openxmlformats.org/officeDocument/2006/relationships/hyperlink" Target="https://www.tenable.com/blog/cybersecurity-snapshot-agentic-ai-security-best-practices-mitre-attack-v18-11-07-2025?utm_source=chatgpt.com" TargetMode="External"/><Relationship Id="rId7" Type="http://schemas.openxmlformats.org/officeDocument/2006/relationships/hyperlink" Target="https://www.tenable.com/blog/cybersecurity-snapshot-agentic-ai-security-best-practices-mitre-attack-v18-11-07-2025?utm_source=chatgpt.com" TargetMode="External"/><Relationship Id="rId8" Type="http://schemas.openxmlformats.org/officeDocument/2006/relationships/hyperlink" Target="https://www.tenable.com/blog/cybersecurity-snapshot-agentic-ai-security-best-practices-mitre-attack-v18-11-07-2025?utm_source=chatgpt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openai.com/index/gpt-5-1/?utm_source=chatgpt.com" TargetMode="External"/><Relationship Id="rId10" Type="http://schemas.openxmlformats.org/officeDocument/2006/relationships/hyperlink" Target="https://openai.com/index/gpt-5-1/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penai.com/index/gpt-5-1/?utm_source=chatgpt.com" TargetMode="External"/><Relationship Id="rId4" Type="http://schemas.openxmlformats.org/officeDocument/2006/relationships/hyperlink" Target="https://openai.com/index/gpt-5-1/?utm_source=chatgpt.com" TargetMode="External"/><Relationship Id="rId9" Type="http://schemas.openxmlformats.org/officeDocument/2006/relationships/hyperlink" Target="https://openai.com/index/gpt-5-1/?utm_source=chatgpt.com" TargetMode="External"/><Relationship Id="rId5" Type="http://schemas.openxmlformats.org/officeDocument/2006/relationships/hyperlink" Target="https://openai.com/index/gpt-5-1/?utm_source=chatgpt.com" TargetMode="External"/><Relationship Id="rId6" Type="http://schemas.openxmlformats.org/officeDocument/2006/relationships/hyperlink" Target="https://platform.openai.com/docs/models/gpt-5.1?utm_source=chatgpt.com" TargetMode="External"/><Relationship Id="rId7" Type="http://schemas.openxmlformats.org/officeDocument/2006/relationships/hyperlink" Target="https://platform.openai.com/docs/models/gpt-5.1?utm_source=chatgpt.com" TargetMode="External"/><Relationship Id="rId8" Type="http://schemas.openxmlformats.org/officeDocument/2006/relationships/hyperlink" Target="https://platform.openai.com/docs/models/gpt-5.1?utm_source=chatgpt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4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9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5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6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7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8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blog.google/products/gemini/gemini-3/#note-from-ceo" TargetMode="External"/><Relationship Id="rId10" Type="http://schemas.openxmlformats.org/officeDocument/2006/relationships/hyperlink" Target="https://blog.google/products/gemini/gemini-3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log.google/products/gemini/gemini-3/" TargetMode="External"/><Relationship Id="rId4" Type="http://schemas.openxmlformats.org/officeDocument/2006/relationships/hyperlink" Target="https://blog.google/products/gemini/gemini-3/" TargetMode="External"/><Relationship Id="rId9" Type="http://schemas.openxmlformats.org/officeDocument/2006/relationships/hyperlink" Target="https://blog.google/products/gemini/gemini-3/" TargetMode="External"/><Relationship Id="rId5" Type="http://schemas.openxmlformats.org/officeDocument/2006/relationships/hyperlink" Target="https://blog.google/products/gemini/gemini-3/" TargetMode="External"/><Relationship Id="rId6" Type="http://schemas.openxmlformats.org/officeDocument/2006/relationships/hyperlink" Target="https://blog.google/products/gemini/gemini-3/" TargetMode="External"/><Relationship Id="rId7" Type="http://schemas.openxmlformats.org/officeDocument/2006/relationships/hyperlink" Target="https://blog.google/products/gemini/gemini-3/" TargetMode="External"/><Relationship Id="rId8" Type="http://schemas.openxmlformats.org/officeDocument/2006/relationships/hyperlink" Target="https://blog.google/products/gemini/gemini-3/" TargetMode="External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hyperlink" Target="https://medium.com/%40anyapi.ai/is-china-really-dominating-open-source-ai-right-now-cf48cf65aba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medium.com/%40anyapi.ai/is-china-really-dominating-open-source-ai-right-now-cf48cf65abae" TargetMode="External"/><Relationship Id="rId4" Type="http://schemas.openxmlformats.org/officeDocument/2006/relationships/hyperlink" Target="https://medium.com/%40anyapi.ai/is-china-really-dominating-open-source-ai-right-now-cf48cf65abae" TargetMode="External"/><Relationship Id="rId9" Type="http://schemas.openxmlformats.org/officeDocument/2006/relationships/hyperlink" Target="https://medium.com/%40anyapi.ai/is-china-really-dominating-open-source-ai-right-now-cf48cf65abae" TargetMode="External"/><Relationship Id="rId5" Type="http://schemas.openxmlformats.org/officeDocument/2006/relationships/hyperlink" Target="https://medium.com/%40anyapi.ai/is-china-really-dominating-open-source-ai-right-now-cf48cf65abae" TargetMode="External"/><Relationship Id="rId6" Type="http://schemas.openxmlformats.org/officeDocument/2006/relationships/hyperlink" Target="https://medium.com/%40anyapi.ai/is-china-really-dominating-open-source-ai-right-now-cf48cf65abae" TargetMode="External"/><Relationship Id="rId7" Type="http://schemas.openxmlformats.org/officeDocument/2006/relationships/hyperlink" Target="https://medium.com/%40anyapi.ai/is-china-really-dominating-open-source-ai-right-now-cf48cf65abae" TargetMode="External"/><Relationship Id="rId8" Type="http://schemas.openxmlformats.org/officeDocument/2006/relationships/hyperlink" Target="https://medium.com/%40anyapi.ai/is-china-really-dominating-open-source-ai-right-now-cf48cf65abae" TargetMode="External"/></Relationships>
</file>

<file path=ppt/slides/_rels/slide18.xml.rels><?xml version="1.0" encoding="UTF-8" standalone="yes"?><Relationships xmlns="http://schemas.openxmlformats.org/package/2006/relationships"><Relationship Id="rId10" Type="http://schemas.openxmlformats.org/officeDocument/2006/relationships/hyperlink" Target="https://medium.com/%40anyapi.ai/is-china-really-dominating-open-source-ai-right-now-cf48cf65aba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medium.com/%40anyapi.ai/is-china-really-dominating-open-source-ai-right-now-cf48cf65abae" TargetMode="External"/><Relationship Id="rId4" Type="http://schemas.openxmlformats.org/officeDocument/2006/relationships/hyperlink" Target="https://medium.com/%40anyapi.ai/is-china-really-dominating-open-source-ai-right-now-cf48cf65abae" TargetMode="External"/><Relationship Id="rId9" Type="http://schemas.openxmlformats.org/officeDocument/2006/relationships/hyperlink" Target="https://medium.com/%40anyapi.ai/is-china-really-dominating-open-source-ai-right-now-cf48cf65abae" TargetMode="External"/><Relationship Id="rId5" Type="http://schemas.openxmlformats.org/officeDocument/2006/relationships/hyperlink" Target="https://medium.com/%40anyapi.ai/is-china-really-dominating-open-source-ai-right-now-cf48cf65abae" TargetMode="External"/><Relationship Id="rId6" Type="http://schemas.openxmlformats.org/officeDocument/2006/relationships/hyperlink" Target="https://medium.com/%40anyapi.ai/is-china-really-dominating-open-source-ai-right-now-cf48cf65abae" TargetMode="External"/><Relationship Id="rId7" Type="http://schemas.openxmlformats.org/officeDocument/2006/relationships/hyperlink" Target="https://medium.com/%40anyapi.ai/is-china-really-dominating-open-source-ai-right-now-cf48cf65abae" TargetMode="External"/><Relationship Id="rId8" Type="http://schemas.openxmlformats.org/officeDocument/2006/relationships/hyperlink" Target="https://medium.com/%40anyapi.ai/is-china-really-dominating-open-source-ai-right-now-cf48cf65abae" TargetMode="External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hyperlink" Target="https://platform.openai.com/docs/models/gpt-5.1-codex-max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eweek.com/news/openai-gpt-codex-max-launch/?utm_source=chatgpt.com" TargetMode="External"/><Relationship Id="rId4" Type="http://schemas.openxmlformats.org/officeDocument/2006/relationships/hyperlink" Target="https://www.eweek.com/news/openai-gpt-codex-max-launch/?utm_source=chatgpt.com" TargetMode="External"/><Relationship Id="rId9" Type="http://schemas.openxmlformats.org/officeDocument/2006/relationships/hyperlink" Target="https://platform.openai.com/docs/models/gpt-5.1-codex-max?utm_source=chatgpt.com" TargetMode="External"/><Relationship Id="rId5" Type="http://schemas.openxmlformats.org/officeDocument/2006/relationships/hyperlink" Target="https://www.eweek.com/news/openai-gpt-codex-max-launch/?utm_source=chatgpt.com" TargetMode="External"/><Relationship Id="rId6" Type="http://schemas.openxmlformats.org/officeDocument/2006/relationships/hyperlink" Target="https://simonwillison.net/2025/Nov/19/gpt-51-codex-max/?utm_source=chatgpt.com" TargetMode="External"/><Relationship Id="rId7" Type="http://schemas.openxmlformats.org/officeDocument/2006/relationships/hyperlink" Target="https://simonwillison.net/2025/Nov/19/gpt-51-codex-max/?utm_source=chatgpt.com" TargetMode="External"/><Relationship Id="rId8" Type="http://schemas.openxmlformats.org/officeDocument/2006/relationships/hyperlink" Target="https://simonwillison.net/2025/Nov/19/gpt-51-codex-max/?utm_source=chatgpt.com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hyperlink" Target="https://scalac.io/blog/last-month-in-ai-november-2025/?utm_source=chatgpt.com" TargetMode="External"/><Relationship Id="rId10" Type="http://schemas.openxmlformats.org/officeDocument/2006/relationships/hyperlink" Target="https://scalac.io/blog/last-month-in-ai-november-2025/?utm_source=chatgpt.com" TargetMode="External"/><Relationship Id="rId13" Type="http://schemas.openxmlformats.org/officeDocument/2006/relationships/hyperlink" Target="https://scalac.io/blog/last-month-in-ai-november-2025/?utm_source=chatgpt.com" TargetMode="External"/><Relationship Id="rId12" Type="http://schemas.openxmlformats.org/officeDocument/2006/relationships/hyperlink" Target="https://scalac.io/blog/last-month-in-ai-november-2025/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calac.io/blog/last-month-in-ai-november-2025/?utm_source=chatgpt.com" TargetMode="External"/><Relationship Id="rId4" Type="http://schemas.openxmlformats.org/officeDocument/2006/relationships/hyperlink" Target="https://scalac.io/blog/last-month-in-ai-november-2025/?utm_source=chatgpt.com" TargetMode="External"/><Relationship Id="rId9" Type="http://schemas.openxmlformats.org/officeDocument/2006/relationships/hyperlink" Target="https://scalac.io/blog/last-month-in-ai-november-2025/?utm_source=chatgpt.com" TargetMode="External"/><Relationship Id="rId14" Type="http://schemas.openxmlformats.org/officeDocument/2006/relationships/hyperlink" Target="https://scalac.io/blog/last-month-in-ai-november-2025/?utm_source=chatgpt.com" TargetMode="External"/><Relationship Id="rId5" Type="http://schemas.openxmlformats.org/officeDocument/2006/relationships/hyperlink" Target="https://scalac.io/blog/last-month-in-ai-november-2025/?utm_source=chatgpt.com" TargetMode="External"/><Relationship Id="rId6" Type="http://schemas.openxmlformats.org/officeDocument/2006/relationships/hyperlink" Target="https://scalac.io/blog/last-month-in-ai-november-2025/?utm_source=chatgpt.com" TargetMode="External"/><Relationship Id="rId7" Type="http://schemas.openxmlformats.org/officeDocument/2006/relationships/hyperlink" Target="https://scalac.io/blog/last-month-in-ai-november-2025/?utm_source=chatgpt.com" TargetMode="External"/><Relationship Id="rId8" Type="http://schemas.openxmlformats.org/officeDocument/2006/relationships/hyperlink" Target="https://scalac.io/blog/last-month-in-ai-november-2025/?utm_source=chatgpt.co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blogs.nvidia.com/blog/rtx-ai-garage-flux-2-comfyui/?utm_source=chatgpt.com" TargetMode="External"/><Relationship Id="rId4" Type="http://schemas.openxmlformats.org/officeDocument/2006/relationships/hyperlink" Target="https://blogs.nvidia.com/blog/rtx-ai-garage-flux-2-comfyui/?utm_source=chatgpt.com" TargetMode="External"/><Relationship Id="rId9" Type="http://schemas.openxmlformats.org/officeDocument/2006/relationships/hyperlink" Target="https://www.rundiffusion.com/changelog/flux-2-arrives-three-models-one-vision-for-ai-imagery?utm_source=chatgpt.com" TargetMode="External"/><Relationship Id="rId5" Type="http://schemas.openxmlformats.org/officeDocument/2006/relationships/hyperlink" Target="https://blogs.nvidia.com/blog/rtx-ai-garage-flux-2-comfyui/?utm_source=chatgpt.com" TargetMode="External"/><Relationship Id="rId6" Type="http://schemas.openxmlformats.org/officeDocument/2006/relationships/hyperlink" Target="https://learn.rundiffusion.com/flux-2-arrives-three-models-one-vision-for-ai-imagery/?utm_source=chatgpt.com" TargetMode="External"/><Relationship Id="rId7" Type="http://schemas.openxmlformats.org/officeDocument/2006/relationships/hyperlink" Target="https://learn.rundiffusion.com/flux-2-arrives-three-models-one-vision-for-ai-imagery/?utm_source=chatgpt.com" TargetMode="External"/><Relationship Id="rId8" Type="http://schemas.openxmlformats.org/officeDocument/2006/relationships/hyperlink" Target="https://learn.rundiffusion.com/flux-2-arrives-three-models-one-vision-for-ai-imagery/?utm_source=chatgpt.com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hyperlink" Target="https://venturebeat.com/ai/nvidias-new-ai-framework-trains-an-8b-model-to-manage-tools-like-a-pro?utm_source=chatgpt.com" TargetMode="External"/><Relationship Id="rId10" Type="http://schemas.openxmlformats.org/officeDocument/2006/relationships/hyperlink" Target="https://venturebeat.com/ai/nvidias-new-ai-framework-trains-an-8b-model-to-manage-tools-like-a-pro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venturebeat.com/ai/nvidias-new-ai-framework-trains-an-8b-model-to-manage-tools-like-a-pro?utm_source=chatgpt.com" TargetMode="External"/><Relationship Id="rId4" Type="http://schemas.openxmlformats.org/officeDocument/2006/relationships/hyperlink" Target="https://venturebeat.com/ai/nvidias-new-ai-framework-trains-an-8b-model-to-manage-tools-like-a-pro?utm_source=chatgpt.com" TargetMode="External"/><Relationship Id="rId9" Type="http://schemas.openxmlformats.org/officeDocument/2006/relationships/hyperlink" Target="https://venturebeat.com/ai/nvidias-new-ai-framework-trains-an-8b-model-to-manage-tools-like-a-pro?utm_source=chatgpt.com" TargetMode="External"/><Relationship Id="rId5" Type="http://schemas.openxmlformats.org/officeDocument/2006/relationships/hyperlink" Target="https://venturebeat.com/ai/nvidias-new-ai-framework-trains-an-8b-model-to-manage-tools-like-a-pro?utm_source=chatgpt.com" TargetMode="External"/><Relationship Id="rId6" Type="http://schemas.openxmlformats.org/officeDocument/2006/relationships/hyperlink" Target="https://arxiv.org/abs/2511.21689?utm_source=chatgpt.com" TargetMode="External"/><Relationship Id="rId7" Type="http://schemas.openxmlformats.org/officeDocument/2006/relationships/hyperlink" Target="https://arxiv.org/abs/2511.21689?utm_source=chatgpt.com" TargetMode="External"/><Relationship Id="rId8" Type="http://schemas.openxmlformats.org/officeDocument/2006/relationships/hyperlink" Target="https://arxiv.org/abs/2511.21689?utm_source=chatgpt.com" TargetMode="External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10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12" Type="http://schemas.openxmlformats.org/officeDocument/2006/relationships/hyperlink" Target="https://economictimes.indiatimes.com/markets/digital-real-estate/realty-news/fractional-investing-is-turning-gen-z-into-early-real-estate-owners-says-sourish-pal-of-client-associates/articleshow/125829382.cms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4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9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5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6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7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8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Collation of some of the latest </a:t>
            </a:r>
            <a:r>
              <a:rPr lang="en" sz="2600"/>
              <a:t>Advancements</a:t>
            </a:r>
            <a:r>
              <a:rPr lang="en" sz="2600"/>
              <a:t> in AI</a:t>
            </a:r>
            <a:endParaRPr sz="2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Non exhaustive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p14"/>
          <p:cNvGraphicFramePr/>
          <p:nvPr/>
        </p:nvGraphicFramePr>
        <p:xfrm>
          <a:off x="897550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{229EF530-8A37-4046-B327-7382CD58EF77}</a:tableStyleId>
              </a:tblPr>
              <a:tblGrid>
                <a:gridCol w="3121550"/>
                <a:gridCol w="44638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Work / Model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Why It Matters for Agents / Reasoning / Tool Use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ARTIST</a:t>
                      </a:r>
                      <a:r>
                        <a:rPr lang="en" sz="900"/>
                        <a:t> — </a:t>
                      </a:r>
                      <a:r>
                        <a:rPr i="1" lang="en" sz="900"/>
                        <a:t>Agentic Reasoning and Tool Integration in Self-Improving Transformers</a:t>
                      </a:r>
                      <a:r>
                        <a:rPr lang="en" sz="900"/>
                        <a:t> (arXiv 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Introduces a unified framework that lets LLMs learn </a:t>
                      </a:r>
                      <a:r>
                        <a:rPr i="1" lang="en" sz="900"/>
                        <a:t>when and how to invoke external tools</a:t>
                      </a:r>
                      <a:r>
                        <a:rPr lang="en" sz="900"/>
                        <a:t> via RL; improves multi-turn reasoning and tool orchestration over static prompt-based approaches.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AgentFlow</a:t>
                      </a:r>
                      <a:r>
                        <a:rPr lang="en" sz="900"/>
                        <a:t> — </a:t>
                      </a:r>
                      <a:r>
                        <a:rPr i="1" lang="en" sz="900"/>
                        <a:t>In-the-Flow Agentic System Optimization for Effective Planning and Tool Use</a:t>
                      </a:r>
                      <a:r>
                        <a:rPr lang="en" sz="900"/>
                        <a:t> (arXiv Oct 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modular agentic architecture (planner / executor / verifier / generator) trained end-to-end with a novel RL method (Flow-GRPO) — improves planning, tool calls, and long-horizon tasks even at modest model scale.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Hybrid Agentic‑LLM + Multi‑Agent Systems</a:t>
                      </a:r>
                      <a:r>
                        <a:rPr lang="en" sz="900"/>
                        <a:t> — </a:t>
                      </a:r>
                      <a:r>
                        <a:rPr i="1" lang="en" sz="900"/>
                        <a:t>Hybrid Agentic AI and Multi-Agent Systems in Smart Manufacturing</a:t>
                      </a:r>
                      <a:r>
                        <a:rPr lang="en" sz="900"/>
                        <a:t> (arXiv Nov 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Demonstrates how LLM-based agents can coordinate with rule-based or lightweight agents for real-world workflow automation — a practical blueprint for agentic + symbolic / structured-AI hybrids.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Agentic Safety &amp; Security Framework</a:t>
                      </a:r>
                      <a:r>
                        <a:rPr lang="en" sz="900"/>
                        <a:t> — </a:t>
                      </a:r>
                      <a:r>
                        <a:rPr i="1" lang="en" sz="900"/>
                        <a:t>A Safety and Security Framework for Real-World Agentic Systems</a:t>
                      </a:r>
                      <a:r>
                        <a:rPr lang="en" sz="900"/>
                        <a:t> (arXiv Nov 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6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First formal “safety-/security + agentic” research: defines unique risks of agentic chains (tool misuse, cascading effects, control amplification), proposes mitigation via sandboxing, red-teaming, auxiliary-agent oversight.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STRIDE</a:t>
                      </a:r>
                      <a:r>
                        <a:rPr lang="en" sz="900"/>
                        <a:t> — </a:t>
                      </a:r>
                      <a:r>
                        <a:rPr i="1" lang="en" sz="900"/>
                        <a:t>Systematic Task Reasoning Intelligence Deployment Evaluator</a:t>
                      </a:r>
                      <a:r>
                        <a:rPr lang="en" sz="900"/>
                        <a:t> (arXiv Dec 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7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Offers a principled method to decide when to use simple LLM calls vs guided assistants vs full agentic autonomy — helps avoid over-deploying agents unnecessarily (saves cost, reduces risk).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15"/>
          <p:cNvGraphicFramePr/>
          <p:nvPr/>
        </p:nvGraphicFramePr>
        <p:xfrm>
          <a:off x="700900" y="80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{229EF530-8A37-4046-B327-7382CD58EF77}</a:tableStyleId>
              </a:tblPr>
              <a:tblGrid>
                <a:gridCol w="3100250"/>
                <a:gridCol w="4433425"/>
              </a:tblGrid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DeepSeek‑V3.2</a:t>
                      </a:r>
                      <a:r>
                        <a:rPr lang="en" sz="900"/>
                        <a:t> (open-source) + </a:t>
                      </a:r>
                      <a:r>
                        <a:rPr b="1" lang="en" sz="900"/>
                        <a:t>DeepSeek‑V3.2‑Speciale</a:t>
                      </a:r>
                      <a:r>
                        <a:rPr lang="en" sz="900"/>
                        <a:t> (open-source, reasoning + tool-use) — released Dec 2025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Analytics India Magazine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Among the first open-source models designed explicitly for agentic tasks: integrated tool-call support + strong reasoning, bringing open-source closer to closed frontier models for agents.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OLMo 3</a:t>
                      </a:r>
                      <a:r>
                        <a:rPr lang="en" sz="900"/>
                        <a:t> (open-source LLM family, Nov 2025 release)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GeekWire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Offers competitive performance vs proprietary models while being fully open — useful as a base LLM in agentic systems where license, custom tuning, or transparency matter.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Qwen 3</a:t>
                      </a:r>
                      <a:r>
                        <a:rPr lang="en" sz="900"/>
                        <a:t> family (and other modern open-source LLMs) — noted among top 2025 open-source LLMs for reasoning / coding / general tasks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Hugging Face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Serves as accessible, license-friendly backbone models for building agents, especially in multilingual, long-context or resource-constrained settings.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Seizing the Agentic AI Advantage Framework</a:t>
                      </a:r>
                      <a:r>
                        <a:rPr lang="en" sz="900"/>
                        <a:t> — analytical discussion of modular agentic architectures from mid-2025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6"/>
                        </a:rPr>
                        <a:t>McKinsey &amp; Company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Articulates architectural principles for agentic systems: modularity, decoupling logic/memory/orchestration/interface, making systems composable and maintainable.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Agentic AI Survey &amp; Taxonomy</a:t>
                      </a:r>
                      <a:r>
                        <a:rPr lang="en" sz="900"/>
                        <a:t> — 2025-era survey categorizing agentic systems along symbolic vs neural/generative lineages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7"/>
                        </a:rPr>
                        <a:t>SpringerLink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Provides a conceptual framework to assess different agentic approaches (symbolic planners vs LLM-driven generation), helpful for design decisions or research orientation.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oogle Shape;70;p16"/>
          <p:cNvGraphicFramePr/>
          <p:nvPr/>
        </p:nvGraphicFramePr>
        <p:xfrm>
          <a:off x="1352875" y="83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{229EF530-8A37-4046-B327-7382CD58EF77}</a:tableStyleId>
              </a:tblPr>
              <a:tblGrid>
                <a:gridCol w="1992850"/>
                <a:gridCol w="4029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Reference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What it brings / why it matters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Agentic‑AI Healthcare: Multilingual, Privacy‑First Framework with MCP Agents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Prototype research combining </a:t>
                      </a:r>
                      <a:r>
                        <a:rPr i="1" lang="en" sz="900"/>
                        <a:t>agent orchestration + privacy/compliance + multilingual support</a:t>
                      </a:r>
                      <a:r>
                        <a:rPr lang="en" sz="900"/>
                        <a:t> — shows how LLM-based agents might interact with patients for symptom checking, scheduling, med suggestions while respecting data privacy laws (HIPAA, etc.).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Conversation AI Dialog for Medicare powered by Finetuning and Retrieval Augmented Generation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Explores LLM-based doctor-patient dialogue using fine-tuning + RAG; evaluates medical-dialogue performance, factual accuracy, adherence to medical guidelines — relevant for tele-health/chat-bot style agents.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From Screens to Scenes: A Survey of Embodied AI in Healthcare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Surveys emerging “Embodied AI” (robotics + multimodal + reasoning) in healthcare: potential for assistive care, patient support, infrastructure automation — helpful vision for next-gen agentic health systems, beyond pure text chat.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17"/>
          <p:cNvGraphicFramePr/>
          <p:nvPr/>
        </p:nvGraphicFramePr>
        <p:xfrm>
          <a:off x="556000" y="102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{229EF530-8A37-4046-B327-7382CD58EF77}</a:tableStyleId>
              </a:tblPr>
              <a:tblGrid>
                <a:gridCol w="2513350"/>
                <a:gridCol w="5082400"/>
              </a:tblGrid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Evaluating large language models and agents in healthcare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ScienceDirect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recent evaluation of LLMs &amp; LLM-agents in medical settings — helps understand current limitations, biases, and what evaluation practices should be before deployment in clinical care.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Large language models in biomedicine and healthcare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Nature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Broad review of LLM use in biomedicine/healthcare: covers applications, benefits, challenges (privacy, bias, workflow integration), and points out where more robust, clinical-grade research is needed.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Exploring AI in Healthcare Systems: A Study of Medical Outcomes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MDPI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Shows real-world impact: AI-based clinical applications (e.g. early warning systems) lead to measurable outcome improvements (lower mortality, shorter stays) when properly implemented — evidence that AI reasoning + automation works in practice.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AI, Health, and Health Care Today and Tomorrow</a:t>
                      </a:r>
                      <a:r>
                        <a:rPr lang="en" sz="900"/>
                        <a:t> (2025, JAMA)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6"/>
                        </a:rPr>
                        <a:t>JAMA Network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High-level policy / evaluation / governance guidance: calls for multi-stakeholder oversight, evaluation frameworks, data infrastructure, monitoring — important foundation for safe agentic-health deployment.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18"/>
          <p:cNvGraphicFramePr/>
          <p:nvPr/>
        </p:nvGraphicFramePr>
        <p:xfrm>
          <a:off x="1477075" y="124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{229EF530-8A37-4046-B327-7382CD58EF77}</a:tableStyleId>
              </a:tblPr>
              <a:tblGrid>
                <a:gridCol w="2300850"/>
                <a:gridCol w="36701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Reference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What it brings / why it matters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AI revolution in insurance: bridging research and reality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Frontiers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Systematic review across automotive, health, property insurance domains: maps how AI is being applied (underwriting, fraud detection, claims, customer support), and identifies gaps — helpful to shape new research or agentic-AI deployment.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The future of AI for the insurance industry</a:t>
                      </a:r>
                      <a:r>
                        <a:rPr lang="en" sz="900"/>
                        <a:t> (2025, McKinsey-backed industry analysis)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McKinsey &amp; Company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Industry-level perspective on how generative AI / agents can transform underwriting, claims processing, risk modelling — useful for designing agentic insurance systems.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9"/>
          <p:cNvGraphicFramePr/>
          <p:nvPr/>
        </p:nvGraphicFramePr>
        <p:xfrm>
          <a:off x="959625" y="9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{229EF530-8A37-4046-B327-7382CD58EF77}</a:tableStyleId>
              </a:tblPr>
              <a:tblGrid>
                <a:gridCol w="2639825"/>
                <a:gridCol w="4210800"/>
              </a:tblGrid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Insurance Leads AI Adoption. It's Time to Scale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BCG Global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Data-driven evidence of growing AI / agentic AI adoption in insurers — signals maturity and business-readiness for deploying more advanced agentic workflows.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An Enhanced Focal Loss Function to Mitigate Class Imbalance in Auto Insurance Fraud Detection with Explainable AI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arXiv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Technical contribution improving fraud detection under heavy class imbalance — offers a more robust, explainable ML technique for fraudulent-claim detection in insurance.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The Role of Artificial Intelligence in Modern Healthcare Insurance</a:t>
                      </a:r>
                      <a:r>
                        <a:rPr lang="en" sz="900"/>
                        <a:t> (2025)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Exploration Publishing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Explores AI’s role in health-insurance: fraud detection, underwriting accuracy, resolving medical information asymmetry — helpful background for building insurance-domain AI agents.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AI in Insurance: How Insurers Can Harness the Potential of Artificial Intelligence for 2025</a:t>
                      </a:r>
                      <a:r>
                        <a:rPr lang="en" sz="900"/>
                        <a:t> (Vonage, 2025) (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hlinkClick r:id="rId6"/>
                        </a:rPr>
                        <a:t>vonage.com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Practitioner-level article mapping how AI (NLP, ML, automation) is being used in customer service, claims, risk assessment — gives insight into current use cases and where reasoning / agents can fit in next.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Week 1 — </a:t>
            </a:r>
            <a:r>
              <a:rPr b="1" lang="en" sz="1100"/>
              <a:t>Nov 5–11, 2025</a:t>
            </a:r>
            <a:endParaRPr/>
          </a:p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The Convergence Epoch: AI’s Structural Phase Shift</a:t>
            </a:r>
            <a:endParaRPr/>
          </a:p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Big Shift:</a:t>
            </a:r>
            <a:r>
              <a:rPr lang="en" sz="1100">
                <a:solidFill>
                  <a:schemeClr val="dk1"/>
                </a:solidFill>
              </a:rPr>
              <a:t> AI moved from </a:t>
            </a:r>
            <a:r>
              <a:rPr i="1" lang="en" sz="1100">
                <a:solidFill>
                  <a:schemeClr val="dk1"/>
                </a:solidFill>
              </a:rPr>
              <a:t>bigger models</a:t>
            </a:r>
            <a:r>
              <a:rPr lang="en" sz="1100">
                <a:solidFill>
                  <a:schemeClr val="dk1"/>
                </a:solidFill>
              </a:rPr>
              <a:t> → </a:t>
            </a:r>
            <a:r>
              <a:rPr b="1" lang="en" sz="1100">
                <a:solidFill>
                  <a:schemeClr val="dk1"/>
                </a:solidFill>
              </a:rPr>
              <a:t>adaptive reasoning platforms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(models + tools + infrastructure converge)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Reasoning Becomes Dynamic: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Sparse / MoE models (GPT-5.1, Kimi K2, ERNIE-4.5) allocate compute </a:t>
            </a:r>
            <a:r>
              <a:rPr b="1" lang="en" sz="1100">
                <a:solidFill>
                  <a:schemeClr val="dk1"/>
                </a:solidFill>
              </a:rPr>
              <a:t>only when needed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Efficiency beats raw parameter scale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Tool-Orchestrated Intelligence: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Models now run </a:t>
            </a:r>
            <a:r>
              <a:rPr b="1" lang="en" sz="1100">
                <a:solidFill>
                  <a:schemeClr val="dk1"/>
                </a:solidFill>
              </a:rPr>
              <a:t>long, multi-step workflows</a:t>
            </a:r>
            <a:r>
              <a:rPr lang="en" sz="1100">
                <a:solidFill>
                  <a:schemeClr val="dk1"/>
                </a:solidFill>
              </a:rPr>
              <a:t> (100s of tool/API calls)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AI acts as a </a:t>
            </a:r>
            <a:r>
              <a:rPr b="1" lang="en" sz="1100">
                <a:solidFill>
                  <a:schemeClr val="dk1"/>
                </a:solidFill>
              </a:rPr>
              <a:t>manager of systems</a:t>
            </a:r>
            <a:r>
              <a:rPr lang="en" sz="1100">
                <a:solidFill>
                  <a:schemeClr val="dk1"/>
                </a:solidFill>
              </a:rPr>
              <a:t>, not just a responder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Infrastructure = Moat: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Exascale TPUs/GPUs (e.g., Ironwood TPU v7) enable sustained reasoning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Cloud + private AI infrastructure becomes strategic, not optional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Ecosystem over Model: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Winners build </a:t>
            </a:r>
            <a:r>
              <a:rPr b="1" lang="en" sz="1100">
                <a:solidFill>
                  <a:schemeClr val="dk1"/>
                </a:solidFill>
              </a:rPr>
              <a:t>full stacks</a:t>
            </a:r>
            <a:r>
              <a:rPr lang="en" sz="1100">
                <a:solidFill>
                  <a:schemeClr val="dk1"/>
                </a:solidFill>
              </a:rPr>
              <a:t>: reasoning engine + tools + infra + governance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Model choice becomes task-adaptive, not one-size-fits-all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New Risks &amp; Governance: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More power → larger attack surface (tool misuse, hidden paths, drift)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Observability, control, and regulation become first-class requirements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https://alecfurrier.medium.com/the-convergence-epoch-how-november-2025-rewrote-the-rules-of-ai-infrastructure-and-reasoning-at-10f7209c855d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Ironwood TPU: Google’s Codesigned AI Stack</a:t>
            </a:r>
            <a:endParaRPr/>
          </a:p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Built for the Inference Era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Purpose-built TPU v7 enabling real-time reasoning, large-scale inference, and sustained “thinking” workloads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Exascale by Design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Pods scale to </a:t>
            </a:r>
            <a:r>
              <a:rPr b="1" lang="en" sz="1100">
                <a:solidFill>
                  <a:schemeClr val="dk1"/>
                </a:solidFill>
              </a:rPr>
              <a:t>9,216 chips (~42 ExaFLOPS FP8)</a:t>
            </a:r>
            <a:r>
              <a:rPr lang="en" sz="1100">
                <a:solidFill>
                  <a:schemeClr val="dk1"/>
                </a:solidFill>
              </a:rPr>
              <a:t> with massive HBM + high-speed interconnects for MoE &amp; LLM serving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Hardware × Software Co-Design = Moat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Tight integration of silicon, compiler, runtime, and frameworks turns raw compute into reliable AI platforms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https://champaignmagazine.com/2025/11/09/ai-by-ai-weekly-top-5-november-3-9-2025/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https://cloud.google.com/blog/products/compute/inside-the-ironwood-tpu-codesigned-ai-stack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AI Companion Law — What Changed</a:t>
            </a:r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 states regulate emotionally-responsive “AI companions”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Artificial Intelligence Companion Models Law took effect in New York on Nov 5, 2025, and California SB 243 will be enforced starting Jan 2026 — targeting chat-bots/emotional AI that simulate human-like relationships.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Morrison Foerster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Mandatory disclosures &amp; safety-by-design requirements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Operators must clearly notify users they are chatting with AI (not human), implement crisis-response protocols (e.g. detect suicidal/self-harm messages), and add age-appropriate safeguards — especially when minors are involved.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Morrison Foerster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Distinct enforcement regimes, civil liability &amp; reporting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New York: enforcements by state AG, fines up to US$15,000/day.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Morrison Foerster</a:t>
            </a:r>
            <a:br>
              <a:rPr lang="en" sz="1100" u="sng">
                <a:solidFill>
                  <a:schemeClr val="hlink"/>
                </a:solidFill>
                <a:hlinkClick r:id="rId11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California: private right of action allows affected individuals to sue for damages; annual reporting of safety-protocol activations starts in 2027.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3"/>
              </a:rPr>
              <a:t>Morrison Foerster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4"/>
              </a:rPr>
              <a:t>https://www.mofo.com/resources/insights/251120-new-york-and-california-enact-landmark-ai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Agentic-AI Security &amp; MITRE ATT&amp;CK v18</a:t>
            </a:r>
            <a:endParaRPr/>
          </a:p>
        </p:txBody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opens a new era in cyber — both offense and defense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Google predicts AI will dominate future cyber operations as tools become common for attackers and defenders alike.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Tenable®+1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MITRE ATT&amp;CK v18 expands to modern attack surfaces &amp; AI-era risks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update extends coverage to threats targeting Kubernetes, CI/CD pipelines, cloud databases, software supply chains, cloud identities, and virtualization/edge systems — reflecting the evolving landscape of cloud-native and AI-driven environments.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Tenable®+2CyberTech Nexus+2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Agentic AI tools must be treated as “privileged insiders” — call for a new security paradigm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Leading security advice recommends treating autonomous AI systems like internal privileged agents: adopt strict identity/access controls, continuous monitoring, risk assessment and lifecycle governance for AI deployments.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Tenable®+1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https://www.tenable.com/blog/cybersecurity-snapshot-agentic-ai-security-best-practices-mitre-attack-v18-11-07-2025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Week 2 — Nov 12–18, 2025</a:t>
            </a:r>
            <a:endParaRPr/>
          </a:p>
        </p:txBody>
      </p:sp>
      <p:sp>
        <p:nvSpPr>
          <p:cNvPr id="121" name="Google Shape;12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GPT-5.1 — What’s New &amp; Important</a:t>
            </a:r>
            <a:endParaRPr/>
          </a:p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Dual-mode engine: Instant &amp; Thinking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GPT-5.1 offers two modes: “Instant” for fast, conversational replies; and “Thinking” for deeper reasoning and complex tasks — balancing speed and depth.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OpenAI+2OpenAI+2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Better reasoning, coding &amp; tone control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model shows improved instruction-following, stronger code generation &amp; debugging, more reliable problem solving, and allows users to shape tone/personality for different contexts.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OpenAI Platform+2Medium+2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More adaptive, user-friendly AI experience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With adaptive reasoning (spend more “thinking time” on hard questions, less on easy ones), larger context handling, and improved conversational tone — GPT-5.1 feels smarter and more natural than prior releases.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OpenAI+2cline.bot+2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https://openai.com/index/gpt-5-1/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BK-GA³™ — Global Adaptive AI Risk-Assessment Framework</a:t>
            </a:r>
            <a:endParaRPr/>
          </a:p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311700" y="563000"/>
            <a:ext cx="83940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Unified &amp; evolving standard for AI risk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BK-GA³™ brings together the best practices from 50+ existing risk frameworks into one global, adaptive lens — bridging the fragmentation that plagued earlier AI-risk assessments.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Black Kite+1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Continuously updated &amp; globally aligned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framework is maintained by a working committee, incorporating emerging threats and aligning with established standards (e.g. ISO, NIST), ensuring relevance and compliance worldwide.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Black Kite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Practical third-party AI risk tooling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BK-GA³™ is publicly available for community use — and built into Black Kite’s platform, enabling organizations to systematically assess vendor AI-risks and identify control gaps across supply-chains.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9"/>
              </a:rPr>
              <a:t>https://blackkite.com/press-releases/black-kite-releases-global-adaptive-ai-assessment-framework-bk-ga-developed-in-consultation-with-shared-assessments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Gemini 3</a:t>
            </a:r>
            <a:endParaRPr/>
          </a:p>
        </p:txBody>
      </p:sp>
      <p:sp>
        <p:nvSpPr>
          <p:cNvPr id="139" name="Google Shape;139;p28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Next-gen intelligence + multimodal reasoning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Gemini 3 delivers state-of-the-art reasoning across text, images, video and code — significantly outperforming prior models in benchmarks for logic, science, multimodal understanding, and complex tasks.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blog.google+2Reuters+2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Agentic &amp; developer-ready: “build, plan, learn anything”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With powerful agentic coding, long-context handling (1M-token window), and support across tools (API, CLI, AI Studio, etc.), Gemini 3 enables developers and users to build apps, analyze long documents, plan complex workflows or learn in rich multimodal formats.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blog.google+2Google Cloud+2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Integrated across Google ecosystem + “Deep Think” mode advance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Gemini 3 is rolled out via Search (AI Mode), Gemini app, Vertex/AI Studio — and includes a new “Deep Think” reasoning mode for ultra-complex problems, showing Google’s push to make advanced AI available broadly.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blog.google+2blog.google+2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https://blog.google/products/gemini/gemini-3/#note-from-ceo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China’s Open-Source AI Surge</a:t>
            </a:r>
            <a:endParaRPr/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Chinese labs are reshaping the open-source AI leaderboard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Models from a handful of Chinese organizations (like DeepSeek, Moonshot’s Kimi K2, Alibaba’s Qwen, MiniMax) now outperform many Western models — often with open weights, full release, and public training logs.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Medium+1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Open-source AI just got cheaper and more accessible globally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These Chinese models are available under open licenses; startups and researchers worldwide can deploy frontier-level AI without paying high API fees or subscription costs — leveling the playing field across geographies.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Medium+2South China Morning Post+2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previous “open-source lag” narrative is dead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What was once considered a 12–18 month delay behind closed labs has reversed — Chinese open models are now ahead, being released every few weeks, aggressively iterated, and ready for real-world use.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Medium+1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https://medium.com/%40anyapi.ai/is-china-really-dominating-open-source-ai-right-now-cf48cf65abae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China’s Open-Source AI Surge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Chinese labs are reshaping the open-source AI leaderboard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Models from a handful of Chinese organizations (like DeepSeek, Moonshot’s Kimi K2, Alibaba’s Qwen, MiniMax) now outperform many Western models — often with open weights, full release, and public training logs.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Medium+1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Open-source AI just got cheaper and more accessible globally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These Chinese models are available under open licenses; startups and researchers worldwide can deploy frontier-level AI without paying high API fees or subscription costs — leveling the playing field across geographies.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Medium+2South China Morning Post+2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previous “open-source lag” narrative is dead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What was once considered a 12–18 month delay behind closed labs has reversed — Chinese open models are now ahead, being released every few weeks, aggressively iterated, and ready for real-world use.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Medium+1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https://medium.com/%40anyapi.ai/is-china-really-dominating-open-source-ai-right-now-cf48cf65abae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GPT-5.1-Codex-Max</a:t>
            </a:r>
            <a:endParaRPr/>
          </a:p>
        </p:txBody>
      </p:sp>
      <p:sp>
        <p:nvSpPr>
          <p:cNvPr id="157" name="Google Shape;157;p31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Built for long-horizon, agentic coding workflows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GPT-5.1-Codex-Max is optimized to handle sustained, complex software-engineering tasks — such as project-scale refactors, multi-file updates, debugging sessions, and test-driven loops — potentially running autonomously for 24+ hours.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eWeek+2OpenAI Developers+2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Maintains context over millions of tokens (compaction)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Through a “compaction” mechanism, it can compress old context while preserving relevant history — allowing the model to work coherently over very long tasks (multiple context windows) without losing track of earlier design decisions.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Simon Willison’s Weblog+2OpenAI+2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More efficient and capable than prior coding models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Compared to earlier Codex variants, Codex-Max delivers better reasoning and code quality, improved token-efficiency (fewer tokens for same or better output), and stronger performance on coding benchmarks — making it a more reliable coding partner for real-world projects.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platform.openai.com+2mint+2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https://openai.com/index/gpt-5-1-codex-max/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Week 3 — Nov 19–25, 2025</a:t>
            </a:r>
            <a:endParaRPr b="1" sz="1700"/>
          </a:p>
        </p:txBody>
      </p:sp>
      <p:sp>
        <p:nvSpPr>
          <p:cNvPr id="163" name="Google Shape;163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November 2025 — AI’s “Model Wars Finale”</a:t>
            </a:r>
            <a:endParaRPr/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Frontier models raced — winners emerged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Gemini 3 Pro became the benchmark leader for text, image- and multimodal-generation.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scalac.io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Claude Opus 4.5 and GPT-5.1 claimed positions respectively as “efficiency champion” and “adaptive, all-rounder” in coding, reasoning, and versatile tasks.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scalac.io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Open-source &amp; niche models made serious waves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open-source model wave proved fierce: transparency-first families like OLMo 3 and domain-specialized models such as DeepSeek Math V2 achieved competitive — even top-tier — performance.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scalac.io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Agents, hardware and global adoption shaped the stack landscape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“Agentic AI” became mainstream: platforms from leading labs pushed agents + long-context workflows as standard.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scalac.io</a:t>
            </a:r>
            <a:br>
              <a:rPr lang="en" sz="1100" u="sng">
                <a:solidFill>
                  <a:schemeClr val="hlink"/>
                </a:solidFill>
                <a:hlinkClick r:id="rId12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China’s AI ecosystem saw explosive adoption, signaling a shift not just in R&amp;D but in deployment and user uptake.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4"/>
              </a:rPr>
              <a:t>scalac.io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https://scalac.io/blog/last-month-in-ai-november-2025/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Week 4 — Nov 26–Dec 2, 2025</a:t>
            </a:r>
            <a:endParaRPr b="1" sz="1700"/>
          </a:p>
        </p:txBody>
      </p:sp>
      <p:sp>
        <p:nvSpPr>
          <p:cNvPr id="175" name="Google Shape;175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FLUX.2 — Next-Gen Image AI for Production Use</a:t>
            </a:r>
            <a:endParaRPr/>
          </a:p>
        </p:txBody>
      </p:sp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Professional-grade, production-ready image generation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FLUX.2 delivers studio-quality, photorealistic outputs up to 4 MP, with reliable lighting, texture, and object detail — suitable for marketing, product visuals, UI mockups, and more.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NVIDIA Blog+1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Consistent, controllable visuals with multi-reference &amp; structured prompting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Supports up to 10 reference images for consistent characters/objects/styles, plus JSON-structured prompts (camera, layout, colors) — giving tight control over composition, style, and brand/color consistency.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RunDiffusion+1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Flexible model variants to suit different workflows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FLUX.2 [pro]</a:t>
            </a:r>
            <a:r>
              <a:rPr lang="en" sz="1100">
                <a:solidFill>
                  <a:schemeClr val="dk1"/>
                </a:solidFill>
              </a:rPr>
              <a:t>: optimized for production pipelines with minimal config;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FLUX.2 [flex]</a:t>
            </a:r>
            <a:r>
              <a:rPr lang="en" sz="1100">
                <a:solidFill>
                  <a:schemeClr val="dk1"/>
                </a:solidFill>
              </a:rPr>
              <a:t>: offers tunable control over fidelity vs speed;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FLUX.2 [dev]</a:t>
            </a:r>
            <a:r>
              <a:rPr lang="en" sz="1100">
                <a:solidFill>
                  <a:schemeClr val="dk1"/>
                </a:solidFill>
              </a:rPr>
              <a:t>: open-weight version ideal for experimentation, customization and cost-effective bulk generation.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9"/>
              </a:rPr>
              <a:t>https://www.rundiffusion.com/changelog/flux-2-arrives-three-models-one-vision-for-ai-imagery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Week 5 — Dec 3–9, 2025</a:t>
            </a:r>
            <a:endParaRPr b="1" sz="1700"/>
          </a:p>
        </p:txBody>
      </p: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Orchestrator-8B via ToolOrchestra — What’s New &amp; Why It Matters</a:t>
            </a:r>
            <a:endParaRPr/>
          </a:p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311700" y="563000"/>
            <a:ext cx="85905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Lightweight orchestration over brute-force LLMs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Instead of one massive model doing everything, Orchestrator-8B (8B parameters) acts as a “manager” — dynamically picking and chaining specialized tools or models (e.g. search, code engine, math module) to solve complex tasks.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Venturebeat+1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Higher performance + fraction of cost &amp; latency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On benchmarks like HLE, FRAMES, and Tau2-Bench, Orchestrator-8B </a:t>
            </a:r>
            <a:r>
              <a:rPr b="1" lang="en" sz="1100">
                <a:solidFill>
                  <a:schemeClr val="dk1"/>
                </a:solidFill>
              </a:rPr>
              <a:t>outperforms much larger LLMs</a:t>
            </a:r>
            <a:r>
              <a:rPr lang="en" sz="1100">
                <a:solidFill>
                  <a:schemeClr val="dk1"/>
                </a:solidFill>
              </a:rPr>
              <a:t> while using significantly lower compute — delivering better cost-efficiency and faster results.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arXiv+2NVIDIA+2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Scalable, flexible, and realistic for enterprise AI agents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framework generalizes even to unseen tools or models, supports mixed-model &amp; mixed-tool ecosystems, and balances correctness, user preferences, cost, and latency — making it feasible for real-world multi-step “agentic” workflows.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Venturebeat+2GitHub+2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https://venturebeat.com/ai/nvidias-new-ai-framework-trains-an-8b-model-to-manage-tools-like-a-pro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Gemini 3 Deep Think — What’s New &amp; Why It Matters</a:t>
            </a:r>
            <a:endParaRPr/>
          </a:p>
        </p:txBody>
      </p:sp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Google’s strongest reasoning ever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Deep Think unlocks advanced math, science, logic and creative problem solving — tackling highly complex tasks by evaluating multiple hypotheses in parallel.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The Times of India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Significant benchmark performance gains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mode delivers state-of-the-art results on challenging tests: e.g. ~41% on “Humanity’s Last Exam” (no tools) and ~45.1% on ARC-AGI-2 with code execution — underpinning its leap in reasoning power.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The Times of India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Better output quality &amp; richer detail for complex workflows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By using iterative reasoning rounds, Deep Think yields more refined, nuanced output — useful for tasks like 3-D simulation, design, coding, research and complex analyses.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The Times of Indi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2"/>
              </a:rPr>
              <a:t>https://economictimes.indiatimes.com/markets/digital-real-estate/realty-news/fractional-investing-is-turning-gen-z-into-early-real-estate-owners-says-sourish-pal-of-client-associates/articleshow/125829382.cms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